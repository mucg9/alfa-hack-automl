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607bd528744cf6" /><Relationship Type="http://schemas.openxmlformats.org/officeDocument/2006/relationships/extended-properties" Target="/docProps/app.xml" Id="R4378f9310f5a4395" /><Relationship Type="http://schemas.openxmlformats.org/officeDocument/2006/relationships/officeDocument" Target="/ppt/presentation.xml" Id="Rf9e922bc5a7c43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5fd58f94eb4177"/>
  </p:sldMasterIdLst>
  <p:notesMasterIdLst>
    <p:notesMasterId xmlns:r="http://schemas.openxmlformats.org/officeDocument/2006/relationships" r:id="R70b336d23e6a4855"/>
  </p:notesMasterIdLst>
  <p:sldIdLst>
    <p:sldId xmlns:r="http://schemas.openxmlformats.org/officeDocument/2006/relationships" id="256" r:id="R706912ba972c4185"/>
    <p:sldId xmlns:r="http://schemas.openxmlformats.org/officeDocument/2006/relationships" id="257" r:id="R924916744b6d411f"/>
    <p:sldId xmlns:r="http://schemas.openxmlformats.org/officeDocument/2006/relationships" id="258" r:id="Rc422a9dc12aa44cd"/>
    <p:sldId xmlns:r="http://schemas.openxmlformats.org/officeDocument/2006/relationships" id="259" r:id="R0bfadbde6fa7489e"/>
    <p:sldId xmlns:r="http://schemas.openxmlformats.org/officeDocument/2006/relationships" id="260" r:id="R202a66f32a764164"/>
    <p:sldId xmlns:r="http://schemas.openxmlformats.org/officeDocument/2006/relationships" id="261" r:id="Rf05c0ed2d48b4648"/>
    <p:sldId xmlns:r="http://schemas.openxmlformats.org/officeDocument/2006/relationships" id="262" r:id="Ra83b495496624c82"/>
    <p:sldId xmlns:r="http://schemas.openxmlformats.org/officeDocument/2006/relationships" id="263" r:id="R25f5d12e11844d4f"/>
    <p:sldId xmlns:r="http://schemas.openxmlformats.org/officeDocument/2006/relationships" id="264" r:id="R040254302db448b9"/>
    <p:sldId xmlns:r="http://schemas.openxmlformats.org/officeDocument/2006/relationships" id="265" r:id="R8780b60fde2f4d8a"/>
    <p:sldId xmlns:r="http://schemas.openxmlformats.org/officeDocument/2006/relationships" id="266" r:id="Rc4c4d9af41c34009"/>
    <p:sldId xmlns:r="http://schemas.openxmlformats.org/officeDocument/2006/relationships" id="267" r:id="R29f0e3bdbe9a456f"/>
    <p:sldId xmlns:r="http://schemas.openxmlformats.org/officeDocument/2006/relationships" id="268" r:id="R449ec5372f52434f"/>
    <p:sldId xmlns:r="http://schemas.openxmlformats.org/officeDocument/2006/relationships" id="269" r:id="R6af9ab8475974a3a"/>
    <p:sldId xmlns:r="http://schemas.openxmlformats.org/officeDocument/2006/relationships" id="270" r:id="R235875f6cdda4c74"/>
    <p:sldId xmlns:r="http://schemas.openxmlformats.org/officeDocument/2006/relationships" id="271" r:id="Rfed438f5d6eb4d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8b89891bc546ef" /><Relationship Type="http://schemas.openxmlformats.org/officeDocument/2006/relationships/slideMaster" Target="/ppt/slideMasters/slideMaster1.xml" Id="R525fd58f94eb4177" /><Relationship Type="http://schemas.openxmlformats.org/officeDocument/2006/relationships/notesMaster" Target="/ppt/notesMasters/notesMaster1.xml" Id="R70b336d23e6a4855" /><Relationship Type="http://schemas.openxmlformats.org/officeDocument/2006/relationships/presProps" Target="/ppt/presProps.xml" Id="R4f3553e6838f484b" /><Relationship Type="http://schemas.openxmlformats.org/officeDocument/2006/relationships/tableStyles" Target="/ppt/tableStyles.xml" Id="R958865eaff4e4389" /><Relationship Type="http://schemas.openxmlformats.org/officeDocument/2006/relationships/slide" Target="/ppt/slides/slide1.xml" Id="R706912ba972c4185" /><Relationship Type="http://schemas.openxmlformats.org/officeDocument/2006/relationships/slide" Target="/ppt/slides/slide2.xml" Id="R924916744b6d411f" /><Relationship Type="http://schemas.openxmlformats.org/officeDocument/2006/relationships/slide" Target="/ppt/slides/slide3.xml" Id="Rc422a9dc12aa44cd" /><Relationship Type="http://schemas.openxmlformats.org/officeDocument/2006/relationships/slide" Target="/ppt/slides/slide4.xml" Id="R0bfadbde6fa7489e" /><Relationship Type="http://schemas.openxmlformats.org/officeDocument/2006/relationships/slide" Target="/ppt/slides/slide5.xml" Id="R202a66f32a764164" /><Relationship Type="http://schemas.openxmlformats.org/officeDocument/2006/relationships/slide" Target="/ppt/slides/slide6.xml" Id="Rf05c0ed2d48b4648" /><Relationship Type="http://schemas.openxmlformats.org/officeDocument/2006/relationships/slide" Target="/ppt/slides/slide7.xml" Id="Ra83b495496624c82" /><Relationship Type="http://schemas.openxmlformats.org/officeDocument/2006/relationships/slide" Target="/ppt/slides/slide8.xml" Id="R25f5d12e11844d4f" /><Relationship Type="http://schemas.openxmlformats.org/officeDocument/2006/relationships/slide" Target="/ppt/slides/slide9.xml" Id="R040254302db448b9" /><Relationship Type="http://schemas.openxmlformats.org/officeDocument/2006/relationships/slide" Target="/ppt/slides/slide10.xml" Id="R8780b60fde2f4d8a" /><Relationship Type="http://schemas.openxmlformats.org/officeDocument/2006/relationships/slide" Target="/ppt/slides/slide11.xml" Id="Rc4c4d9af41c34009" /><Relationship Type="http://schemas.openxmlformats.org/officeDocument/2006/relationships/slide" Target="/ppt/slides/slide12.xml" Id="R29f0e3bdbe9a456f" /><Relationship Type="http://schemas.openxmlformats.org/officeDocument/2006/relationships/slide" Target="/ppt/slides/slide13.xml" Id="R449ec5372f52434f" /><Relationship Type="http://schemas.openxmlformats.org/officeDocument/2006/relationships/slide" Target="/ppt/slides/slide14.xml" Id="R6af9ab8475974a3a" /><Relationship Type="http://schemas.openxmlformats.org/officeDocument/2006/relationships/slide" Target="/ppt/slides/slide15.xml" Id="R235875f6cdda4c74" /><Relationship Type="http://schemas.openxmlformats.org/officeDocument/2006/relationships/slide" Target="/ppt/slides/slide16.xml" Id="Rfed438f5d6eb4d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38e654e04544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63255514ed4a00" /><Relationship Type="http://schemas.openxmlformats.org/officeDocument/2006/relationships/notesMaster" Target="/ppt/notesMasters/notesMaster1.xml" Id="R8840da02f71346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1653adde3b4201" /><Relationship Type="http://schemas.openxmlformats.org/officeDocument/2006/relationships/notesMaster" Target="/ppt/notesMasters/notesMaster1.xml" Id="Rd150f35482bc46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104b1ce8134ad3" /><Relationship Type="http://schemas.openxmlformats.org/officeDocument/2006/relationships/notesMaster" Target="/ppt/notesMasters/notesMaster1.xml" Id="R8d9c73c057834e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d089a89a0a4b8d" /><Relationship Type="http://schemas.openxmlformats.org/officeDocument/2006/relationships/notesMaster" Target="/ppt/notesMasters/notesMaster1.xml" Id="R970873b4d99c4a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38b49ab1f1455f" /><Relationship Type="http://schemas.openxmlformats.org/officeDocument/2006/relationships/notesMaster" Target="/ppt/notesMasters/notesMaster1.xml" Id="R9bcc3d4582e348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6842f807ba4cd0" /><Relationship Type="http://schemas.openxmlformats.org/officeDocument/2006/relationships/notesMaster" Target="/ppt/notesMasters/notesMaster1.xml" Id="Re33cc95f2cb34a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3c44b1fd774435" /><Relationship Type="http://schemas.openxmlformats.org/officeDocument/2006/relationships/notesMaster" Target="/ppt/notesMasters/notesMaster1.xml" Id="R877dc193cf6e41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812ca5c97c4f80" /><Relationship Type="http://schemas.openxmlformats.org/officeDocument/2006/relationships/notesMaster" Target="/ppt/notesMasters/notesMaster1.xml" Id="R77e870c6aa2645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d153d1f7dc4e61" /><Relationship Type="http://schemas.openxmlformats.org/officeDocument/2006/relationships/notesMaster" Target="/ppt/notesMasters/notesMaster1.xml" Id="R53a137f63b7f41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ee374411694850" /><Relationship Type="http://schemas.openxmlformats.org/officeDocument/2006/relationships/notesMaster" Target="/ppt/notesMasters/notesMaster1.xml" Id="Rcd09961b014142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b89a2cbd13d4499" /><Relationship Type="http://schemas.openxmlformats.org/officeDocument/2006/relationships/notesMaster" Target="/ppt/notesMasters/notesMaster1.xml" Id="R55671de0b5934cb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3cf23314b8d4f3b" /><Relationship Type="http://schemas.openxmlformats.org/officeDocument/2006/relationships/notesMaster" Target="/ppt/notesMasters/notesMaster1.xml" Id="R9c6c511c6f4d45e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24ce0f384eb45ea" /><Relationship Type="http://schemas.openxmlformats.org/officeDocument/2006/relationships/notesMaster" Target="/ppt/notesMasters/notesMaster1.xml" Id="Rdedc941ab5f6436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31a670a06544645" /><Relationship Type="http://schemas.openxmlformats.org/officeDocument/2006/relationships/notesMaster" Target="/ppt/notesMasters/notesMaster1.xml" Id="R87cdc6ed29f4425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fd1356371c64f00" /><Relationship Type="http://schemas.openxmlformats.org/officeDocument/2006/relationships/notesMaster" Target="/ppt/notesMasters/notesMaster1.xml" Id="R24354a270522441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6673194f41d4890" /><Relationship Type="http://schemas.openxmlformats.org/officeDocument/2006/relationships/notesMaster" Target="/ppt/notesMasters/notesMaster1.xml" Id="R9bf2352731114f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Вступление: мы уже можем обсуждать конкретный прототип, а не только идеи. На встрече договоримся, что улучшать, кто за какой результат отвечает и как сравниваем работу ИИ. Числа на следующих слайдах являются локальной валидацией, если явно не указано иное. Источники: PDF «Альфа Хак_AutoML», task.md и data_dictionary публичных задач.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Агент получает описание новой задачи и данные. Команда проектирует процесс исследования. Публичные таблицы нужны для отладки, а окончательная проверка использует две неизвестные задачи. Источники: PDF «Альфа Хак_AutoML», task.md и data_dictionary публичных задач.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https://t.me/alfafuture_hack/6582, https://t.me/alfafuture_hack/7591, https://t.me/alfafuture_hack/7256, https://t.me/alfafuture_hack/6072. Инструкция: https://docs.google.com/document/d/17yxOkrdFHeQFX29iCz3f6noMs3l9cW2v/edit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PDF «Альфа Хак_AutoML», task.md и data_dictionary публичных задач. Уточнение private: https://t.me/alfafuture_hack/7596 . Поддержка текста нужна даже при двух табличных public-задачах.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PDF, приложение 3, слайды 18–19. Значения baseline на скрытом тесте нам не известны. Нельзя подставить локальные RMSE/F1 в формулу и объявить это official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Архитектура реализована в solution.py, agent_core.py и agent_worker.py. Qwen получает профиль и результаты экспериментов, возвращает гипотезу, recipe и необязательный код transform(df). Изолированный worker обучает модель. Оценка и решение о best принадлежат детерминированному коду. Это ограниченный агентный цикл, а не неограниченный coding agent.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Числа взяты из results_summary.json и связанных report.json. Один фиксированный holdout, а не полноценная cross-validation. Выбор по нескольким гипотезам на одном holdout может переобучать validation. Фактическое качество на hidden test неизвестно.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Фактические API-запросы к организаторскому endpoint. Первые планы были обрезаны: весь output limit ушёл на reasoning, final JSON отсутствовал. Надёжный парсер/fallback сохранил результат. Увеличение лимита ответа требует учёта времени. Расход следует сверять по key/info, в том числе потому что timeout не гарантирует отсутствие списания.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Профиль публичных данных и локальные проверки. Классификация: 33 442 повторных feature-вектора, 65 объектов Worms, unseen state=ACC/CLO. Регрессия: существенный сдвиг доли пропусков train/test. Временная диагностика и многократные split ещё нужны. Synthetic smoke tests проверяют функциональность, а не качество private.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Распределение предварительное. Имена назначаем на встрече. Два Pro-участника берут наиболее объёмные задачи, при этом автор и проверяющий разделены. Капитан занимает один из пяти слотов. P5 соответствует аналитической роли из исходных вводных.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Полный набор находится в prompt_pack.md. Сам по себе хороший промпт не гарантирует победу. Согласованность нужна для сохранения интерфейсов, честного сравнения и интеграции результатов. Изменения правил сначала попадают в общий контекст и decision log.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Рабочее правило команды, предлагаемое на встречу. Оно не является внешним требованием хакатона. Независимый review важнее уверенного текста, который вернул 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Относительный план действует после распределения реальных имён и подтверждения дедлайна. Не предполагаем, что дедлайн обязательно 26 октября: этот срок ранее был рабочим допущением, в доступных уточнениях его не подтвердили.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https://t.me/alfafuture_hack/6582, https://t.me/alfafuture_hack/7591, https://t.me/alfafuture_hack/7256, https://t.me/alfafuture_hack/6072. Инструкция: https://docs.google.com/document/d/17yxOkrdFHeQFX29iCz3f6noMs3l9cW2v/edit . В день допускаются три попытки. Качество и статус конкретной версии подтверждает только интерфейс платформы. При задержке не расходуем новый слот на дубликат.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Статус записан по фактически наблюдаемому кабинету команды. Источник: https://changellenge.com/personal/championships/stage/927270/ . Если score ещё не получен, он намеренно не вычисляется по локальным данным.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Закрытие встречи: фиксируем имена владельцев, split policy, исходную версию и следующие проверяемые результаты. Не завершаем встречу только перечнем идей.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edfe06df504fd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fe77a65c08463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3fbe8efa3243a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8780a9d6c44da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77126c26334ff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86c245d5a84e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B7F605-88E8-4705-8E92-18C41C5F24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1412479-ED56-4101-9DE2-C823EC66A29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78A4D5D-D6C7-4F87-BFD0-C2DA8013FC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0D7843-D3A3-4C95-937A-BC3F35B6C9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3A150BD-4CFF-48CA-A25B-82F3C64B07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60BBE6-4481-4AC0-B809-94337596B2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8AAD871-8639-4777-B59F-93271F3BBC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33D38DB-B5DD-4CFA-8289-8EDA7447EE0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D5248A-4178-42DF-9778-32A0F0F8A0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B0D410-6030-45B2-B9A2-9CDD982A52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9b5f9d25404fe1" /><Relationship Type="http://schemas.openxmlformats.org/officeDocument/2006/relationships/slideLayout" Target="/ppt/slideLayouts/slideLayout1.xml" Id="Re35e2ccfd5384191" /><Relationship Type="http://schemas.openxmlformats.org/officeDocument/2006/relationships/slideLayout" Target="/ppt/slideLayouts/slideLayout2.xml" Id="R90f9f474ff6746ef" /><Relationship Type="http://schemas.openxmlformats.org/officeDocument/2006/relationships/slideLayout" Target="/ppt/slideLayouts/slideLayout3.xml" Id="R7e40d81a37b84f21" /><Relationship Type="http://schemas.openxmlformats.org/officeDocument/2006/relationships/slideLayout" Target="/ppt/slideLayouts/slideLayout4.xml" Id="R043eb4b4dba84aa2" /><Relationship Type="http://schemas.openxmlformats.org/officeDocument/2006/relationships/slideLayout" Target="/ppt/slideLayouts/slideLayout5.xml" Id="R9f1e5fb22e5b4e88" /><Relationship Type="http://schemas.openxmlformats.org/officeDocument/2006/relationships/slideLayout" Target="/ppt/slideLayouts/slideLayout6.xml" Id="R5d8556d8cd714e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5e2ccfd5384191"/>
    <p:sldLayoutId xmlns:r="http://schemas.openxmlformats.org/officeDocument/2006/relationships" id="2147483650" r:id="R90f9f474ff6746ef"/>
    <p:sldLayoutId xmlns:r="http://schemas.openxmlformats.org/officeDocument/2006/relationships" id="2147483651" r:id="R7e40d81a37b84f21"/>
    <p:sldLayoutId xmlns:r="http://schemas.openxmlformats.org/officeDocument/2006/relationships" id="2147483652" r:id="R043eb4b4dba84aa2"/>
    <p:sldLayoutId xmlns:r="http://schemas.openxmlformats.org/officeDocument/2006/relationships" id="2147483653" r:id="R9f1e5fb22e5b4e88"/>
    <p:sldLayoutId xmlns:r="http://schemas.openxmlformats.org/officeDocument/2006/relationships" id="2147483654" r:id="R5d8556d8cd714e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f37ed55c424d85" /><Relationship Type="http://schemas.openxmlformats.org/officeDocument/2006/relationships/image" Target="/ppt/media/image.png" Id="R79878e6075574c7e" /><Relationship Type="http://schemas.openxmlformats.org/officeDocument/2006/relationships/notesSlide" Target="/ppt/notesSlides/notesSlide1.xml" Id="R6830a6c249954d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924233a6464ca5" /><Relationship Type="http://schemas.openxmlformats.org/officeDocument/2006/relationships/notesSlide" Target="/ppt/notesSlides/notesSlide2.xml" Id="Rb98fd28242584f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b0daf6882944ad" /><Relationship Type="http://schemas.openxmlformats.org/officeDocument/2006/relationships/notesSlide" Target="/ppt/notesSlides/notesSlide3.xml" Id="R8167fbc443cc48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825cf46e3f44cb" /><Relationship Type="http://schemas.openxmlformats.org/officeDocument/2006/relationships/notesSlide" Target="/ppt/notesSlides/notesSlide4.xml" Id="R53e5b5776f0b4e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00ba581e9944fe" /><Relationship Type="http://schemas.openxmlformats.org/officeDocument/2006/relationships/notesSlide" Target="/ppt/notesSlides/notesSlide5.xml" Id="R046bc243f76640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4a46adcf4c466c" /><Relationship Type="http://schemas.openxmlformats.org/officeDocument/2006/relationships/notesSlide" Target="/ppt/notesSlides/notesSlide6.xml" Id="Rd468f713de1049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df206768614e69" /><Relationship Type="http://schemas.openxmlformats.org/officeDocument/2006/relationships/notesSlide" Target="/ppt/notesSlides/notesSlide7.xml" Id="R3a4f8a9426654a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50471e3ce147e7" /><Relationship Type="http://schemas.openxmlformats.org/officeDocument/2006/relationships/notesSlide" Target="/ppt/notesSlides/notesSlide8.xml" Id="R68cf664931b643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56482282a24548" /><Relationship Type="http://schemas.openxmlformats.org/officeDocument/2006/relationships/notesSlide" Target="/ppt/notesSlides/notesSlide9.xml" Id="Rac9897a0b0ee40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c5dad05ecf4a3e" /><Relationship Type="http://schemas.openxmlformats.org/officeDocument/2006/relationships/notesSlide" Target="/ppt/notesSlides/notesSlide10.xml" Id="R42a7bf25957145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25c7e3d499472d" /><Relationship Type="http://schemas.openxmlformats.org/officeDocument/2006/relationships/notesSlide" Target="/ppt/notesSlides/notesSlide11.xml" Id="Ra36e37eace9c44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5ec6c629194dcc" /><Relationship Type="http://schemas.openxmlformats.org/officeDocument/2006/relationships/notesSlide" Target="/ppt/notesSlides/notesSlide12.xml" Id="Rca39a2439a3240d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39dec1fbeb489d" /><Relationship Type="http://schemas.openxmlformats.org/officeDocument/2006/relationships/notesSlide" Target="/ppt/notesSlides/notesSlide13.xml" Id="Ra436bdaec9584ec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b682b523f74f57" /><Relationship Type="http://schemas.openxmlformats.org/officeDocument/2006/relationships/notesSlide" Target="/ppt/notesSlides/notesSlide14.xml" Id="R3c5907c81f2d418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db403c29f24f79" /><Relationship Type="http://schemas.openxmlformats.org/officeDocument/2006/relationships/notesSlide" Target="/ppt/notesSlides/notesSlide15.xml" Id="Rdba215c89f1f423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94238cc8cc4ad4" /><Relationship Type="http://schemas.openxmlformats.org/officeDocument/2006/relationships/notesSlide" Target="/ppt/notesSlides/notesSlide16.xml" Id="R0f85cbc2a6c840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I-агент&#10;для ML-задач">
            <a:extLst xmlns:a="http://schemas.openxmlformats.org/drawingml/2006/main">
              <a:ext uri="{FF2B5EF4-FFF2-40B4-BE49-F238E27FC236}">
                <a16:creationId xmlns:a16="http://schemas.microsoft.com/office/drawing/2014/main" id="{96621B63-71D0-4A66-B333-E05E6D58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5810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875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875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875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875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875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875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875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875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875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875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4875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4875" b="1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AI-агент</a:t>
            </a:r>
          </a:p>
          <a:p xmlns:a="http://schemas.openxmlformats.org/drawingml/2006/main">
            <a:pPr>
              <a:defRPr sz="4875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4875" b="1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для ML-задач</a:t>
            </a:r>
          </a:p>
        </p:txBody>
      </p:sp>
      <p:sp>
        <p:nvSpPr>
          <p:cNvPr id="2" name="Первый рабочий прототип&#10;и организация команды">
            <a:extLst xmlns:a="http://schemas.openxmlformats.org/drawingml/2006/main">
              <a:ext uri="{FF2B5EF4-FFF2-40B4-BE49-F238E27FC236}">
                <a16:creationId xmlns:a16="http://schemas.microsoft.com/office/drawing/2014/main" id="{30A5DBBF-5E44-48B4-ACB6-144EB8C5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Первый рабочий прототип</a:t>
            </a:r>
          </a:p>
          <a:p xmlns:a="http://schemas.openxmlformats.org/drawingml/2006/main">
            <a: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и организация команды</a:t>
            </a:r>
          </a:p>
        </p:txBody>
      </p:sp>
      <p:sp>
        <p:nvSpPr>
          <p:cNvPr id="3" name="Встреча команды · 22 октября 2026">
            <a:extLst xmlns:a="http://schemas.openxmlformats.org/drawingml/2006/main">
              <a:ext uri="{FF2B5EF4-FFF2-40B4-BE49-F238E27FC236}">
                <a16:creationId xmlns:a16="http://schemas.microsoft.com/office/drawing/2014/main" id="{8EC94879-7295-4012-8AE3-604100F9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4646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64646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64646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64646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64646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64646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64646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64646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64646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64646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46464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46464"/>
                </a:solidFill>
                <a:latin typeface="DejaVu Sans"/>
                <a:ea typeface="DejaVu Sans"/>
                <a:cs typeface="DejaVu Sans"/>
              </a:rPr>
              <a:t>Встреча команды · 22 октября 2026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1702E-230E-4913-93DF-952EE0D553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878e6075574c7e"/>
          <a:stretch xmlns:a="http://schemas.openxmlformats.org/drawingml/2006/main"/>
        </p:blipFill>
        <p:spPr>
          <a:xfrm xmlns:a="http://schemas.openxmlformats.org/drawingml/2006/main">
            <a:off x="6716262" y="1381125"/>
            <a:ext cx="4807852" cy="3400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3458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Что оценивают в кейсе">
            <a:extLst xmlns:a="http://schemas.openxmlformats.org/drawingml/2006/main">
              <a:ext uri="{FF2B5EF4-FFF2-40B4-BE49-F238E27FC236}">
                <a16:creationId xmlns:a16="http://schemas.microsoft.com/office/drawing/2014/main" id="{DA39E2C2-65B1-4C43-BF8A-0BC15931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Что оценивают в кейсе</a:t>
            </a:r>
          </a:p>
        </p:txBody>
      </p:sp>
      <p:sp>
        <p:nvSpPr>
          <p:cNvPr id="2" name="Один агент самостоятельно решает новую задачу">
            <a:extLst xmlns:a="http://schemas.openxmlformats.org/drawingml/2006/main">
              <a:ext uri="{FF2B5EF4-FFF2-40B4-BE49-F238E27FC236}">
                <a16:creationId xmlns:a16="http://schemas.microsoft.com/office/drawing/2014/main" id="{551C01C5-5B57-4B7F-B03E-A13C9FA6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9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9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9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9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9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9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9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9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9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EC2427"/>
                </a:solidFill>
                <a:latin typeface="DejaVu Sans"/>
                <a:ea typeface="DejaVu Sans"/>
                <a:cs typeface="DejaVu Sans"/>
              </a:rPr>
              <a:t>Один агент самостоятельно решает новую задачу</a:t>
            </a:r>
          </a:p>
        </p:txBody>
      </p:sp>
      <p:sp>
        <p:nvSpPr>
          <p:cNvPr id="3" name="Читает условие и определяет target, тип задачи и метрик">
            <a:extLst xmlns:a="http://schemas.openxmlformats.org/drawingml/2006/main">
              <a:ext uri="{FF2B5EF4-FFF2-40B4-BE49-F238E27FC236}">
                <a16:creationId xmlns:a16="http://schemas.microsoft.com/office/drawing/2014/main" id="{B3617337-AED4-425E-A11B-DA3820F2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Читает условие и определяет target, тип задачи и метрику</a:t>
            </a:r>
          </a:p>
        </p:txBody>
      </p:sp>
      <p:sp>
        <p:nvSpPr>
          <p:cNvPr id="4" name="Проверяет гипотезы на собственной валидации">
            <a:extLst xmlns:a="http://schemas.openxmlformats.org/drawingml/2006/main">
              <a:ext uri="{FF2B5EF4-FFF2-40B4-BE49-F238E27FC236}">
                <a16:creationId xmlns:a16="http://schemas.microsoft.com/office/drawing/2014/main" id="{1FF97899-2AA6-4A0A-A8CA-F933338D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Проверяет гипотезы на собственной валидации</a:t>
            </a:r>
          </a:p>
        </p:txBody>
      </p:sp>
      <p:sp>
        <p:nvSpPr>
          <p:cNvPr id="5" name="Выбирает лучший вариант и создаёт submission.csv">
            <a:extLst xmlns:a="http://schemas.openxmlformats.org/drawingml/2006/main">
              <a:ext uri="{FF2B5EF4-FFF2-40B4-BE49-F238E27FC236}">
                <a16:creationId xmlns:a16="http://schemas.microsoft.com/office/drawing/2014/main" id="{07C1740D-3B1D-44AE-B527-659BC036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Выбирает лучший вариант и создаёт submission.csv</a:t>
            </a:r>
          </a:p>
        </p:txBody>
      </p:sp>
    </p:spTree>
    <p:extLst>
      <p:ext uri="{BB962C8B-B14F-4D97-AF65-F5344CB8AC3E}">
        <p14:creationId xmlns:p14="http://schemas.microsoft.com/office/powerpoint/2010/main" val="8227811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граничения и новые уточнения">
            <a:extLst xmlns:a="http://schemas.openxmlformats.org/drawingml/2006/main">
              <a:ext uri="{FF2B5EF4-FFF2-40B4-BE49-F238E27FC236}">
                <a16:creationId xmlns:a16="http://schemas.microsoft.com/office/drawing/2014/main" id="{EBF1BE47-2FC3-448F-AC98-46F22C59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Ограничения и новые уточнения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B3271-B1BF-473E-A33F-81D158DAF171}"/>
              </a:ext>
            </a:extLst>
          </p:cNvPr>
          <p:cNvGraphicFramePr/>
          <p:nvPr/>
        </p:nvGraphicFramePr>
        <p:xfrm>
          <a:off xmlns:a="http://schemas.openxmlformats.org/drawingml/2006/main" x="666750" y="1695450"/>
          <a:ext xmlns:a="http://schemas.openxmlformats.org/drawingml/2006/main" cx="10858500" cy="4143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8572500"/>
              </a:tblGrid>
              <a:tr h="6905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Параметр</a:t>
                      </a:r>
                    </a:p>
                  </a:txBody>
                  <a:tcPr marL="133350" marR="133350" marT="95250" marB="95250" anchor="ctr">
                    <a:lnL w="6668">
                      <a:solidFill>
                        <a:srgbClr val="D8D8D8"/>
                      </a:solidFill>
                      <a:prstDash val="solid"/>
                    </a:lnL>
                    <a:lnR w="6668">
                      <a:solidFill>
                        <a:srgbClr val="D8D8D8"/>
                      </a:solidFill>
                      <a:prstDash val="solid"/>
                    </a:lnR>
                    <a:lnT w="6668">
                      <a:solidFill>
                        <a:srgbClr val="D8D8D8"/>
                      </a:solidFill>
                      <a:prstDash val="solid"/>
                    </a:lnT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Что учитываем</a:t>
                      </a:r>
                    </a:p>
                  </a:txBody>
                  <a:tcPr marL="133350" marR="133350" marT="95250" marB="95250" anchor="ctr">
                    <a:lnR w="6668">
                      <a:solidFill>
                        <a:srgbClr val="D8D8D8"/>
                      </a:solidFill>
                      <a:prstDash val="solid"/>
                    </a:lnR>
                    <a:lnT w="6668">
                      <a:solidFill>
                        <a:srgbClr val="D8D8D8"/>
                      </a:solidFill>
                      <a:prstDash val="solid"/>
                    </a:lnT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Ресурсы</a:t>
                      </a:r>
                    </a:p>
                  </a:txBody>
                  <a:tcPr marL="133350" marR="133350" marT="95250" marB="95250" anchor="ctr">
                    <a:lnL w="6668">
                      <a:solidFill>
                        <a:srgbClr val="D8D8D8"/>
                      </a:solidFill>
                      <a:prstDash val="solid"/>
                    </a:lnL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Python 3.12 · 8 CPU · 32 ГБ RAM</a:t>
                      </a:r>
                    </a:p>
                  </a:txBody>
                  <a:tcPr marL="133350" marR="133350" marT="95250" marB="95250" anchor="ctr"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Время</a:t>
                      </a:r>
                    </a:p>
                  </a:txBody>
                  <a:tcPr marL="133350" marR="133350" marT="95250" marB="95250" anchor="ctr">
                    <a:lnL w="6668">
                      <a:solidFill>
                        <a:srgbClr val="D8D8D8"/>
                      </a:solidFill>
                      <a:prstDash val="solid"/>
                    </a:lnL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 3 часов на каждую задачу</a:t>
                      </a:r>
                    </a:p>
                  </a:txBody>
                  <a:tcPr marL="133350" marR="133350" marT="95250" marB="95250" anchor="ctr"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Сдача</a:t>
                      </a:r>
                    </a:p>
                  </a:txBody>
                  <a:tcPr marL="133350" marR="133350" marT="95250" marB="95250" anchor="ctr">
                    <a:lnL w="6668">
                      <a:solidFill>
                        <a:srgbClr val="D8D8D8"/>
                      </a:solidFill>
                      <a:prstDash val="solid"/>
                    </a:lnL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Корневые .py и requirements.txt · ZIP до 100 МБ</a:t>
                      </a:r>
                    </a:p>
                  </a:txBody>
                  <a:tcPr marL="133350" marR="133350" marT="95250" marB="95250" anchor="ctr"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Qwen</a:t>
                      </a:r>
                    </a:p>
                  </a:txBody>
                  <a:tcPr marL="133350" marR="133350" marT="95250" marB="95250" anchor="ctr">
                    <a:lnL w="6668">
                      <a:solidFill>
                        <a:srgbClr val="D8D8D8"/>
                      </a:solidFill>
                      <a:prstDash val="solid"/>
                    </a:lnL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600 ₽/сутки на разработку · проверка вне этого бюджета</a:t>
                      </a:r>
                    </a:p>
                  </a:txBody>
                  <a:tcPr marL="133350" marR="133350" marT="95250" marB="95250" anchor="ctr"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Среда</a:t>
                      </a:r>
                    </a:p>
                  </a:txBody>
                  <a:tcPr marL="133350" marR="133350" marT="95250" marB="95250" anchor="ctr">
                    <a:lnL w="6668">
                      <a:solidFill>
                        <a:srgbClr val="D8D8D8"/>
                      </a:solidFill>
                      <a:prstDash val="solid"/>
                    </a:lnL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mcp отсутствует · сеть только через proxy</a:t>
                      </a:r>
                    </a:p>
                  </a:txBody>
                  <a:tcPr marL="133350" marR="133350" marT="95250" marB="95250" anchor="ctr"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58690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Публичные задачи">
            <a:extLst xmlns:a="http://schemas.openxmlformats.org/drawingml/2006/main">
              <a:ext uri="{FF2B5EF4-FFF2-40B4-BE49-F238E27FC236}">
                <a16:creationId xmlns:a16="http://schemas.microsoft.com/office/drawing/2014/main" id="{8CEB05D0-B6CA-4440-A7D1-3542FE97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Публичные задачи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82C8F-20AA-4D68-B165-7A5DA2F3511F}"/>
              </a:ext>
            </a:extLst>
          </p:cNvPr>
          <p:cNvGraphicFramePr/>
          <p:nvPr/>
        </p:nvGraphicFramePr>
        <p:xfrm>
          <a:off xmlns:a="http://schemas.openxmlformats.org/drawingml/2006/main" x="666750" y="1695450"/>
          <a:ext xmlns:a="http://schemas.openxmlformats.org/drawingml/2006/main" cx="10858500" cy="280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3143250"/>
                <a:gridCol w="5334000"/>
              </a:tblGrid>
              <a:tr h="9366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Задача</a:t>
                      </a:r>
                    </a:p>
                  </a:txBody>
                  <a:tcPr marL="133350" marR="133350" marT="95250" marB="95250" anchor="ctr">
                    <a:lnL w="6668">
                      <a:solidFill>
                        <a:srgbClr val="D8D8D8"/>
                      </a:solidFill>
                      <a:prstDash val="solid"/>
                    </a:lnL>
                    <a:lnR w="6668">
                      <a:solidFill>
                        <a:srgbClr val="D8D8D8"/>
                      </a:solidFill>
                      <a:prstDash val="solid"/>
                    </a:lnR>
                    <a:lnT w="6668">
                      <a:solidFill>
                        <a:srgbClr val="D8D8D8"/>
                      </a:solidFill>
                      <a:prstDash val="solid"/>
                    </a:lnT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Train / Test</a:t>
                      </a:r>
                    </a:p>
                  </a:txBody>
                  <a:tcPr marL="133350" marR="133350" marT="95250" marB="95250" anchor="ctr">
                    <a:lnR w="6668">
                      <a:solidFill>
                        <a:srgbClr val="D8D8D8"/>
                      </a:solidFill>
                      <a:prstDash val="solid"/>
                    </a:lnR>
                    <a:lnT w="6668">
                      <a:solidFill>
                        <a:srgbClr val="D8D8D8"/>
                      </a:solidFill>
                      <a:prstDash val="solid"/>
                    </a:lnT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Цель и метрика</a:t>
                      </a:r>
                    </a:p>
                  </a:txBody>
                  <a:tcPr marL="133350" marR="133350" marT="95250" marB="95250" anchor="ctr">
                    <a:lnR w="6668">
                      <a:solidFill>
                        <a:srgbClr val="D8D8D8"/>
                      </a:solidFill>
                      <a:prstDash val="solid"/>
                    </a:lnR>
                    <a:lnT w="6668">
                      <a:solidFill>
                        <a:srgbClr val="D8D8D8"/>
                      </a:solidFill>
                      <a:prstDash val="solid"/>
                    </a:lnT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</a:tr>
              <a:tr h="9366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Здания</a:t>
                      </a:r>
                    </a:p>
                  </a:txBody>
                  <a:tcPr marL="133350" marR="133350" marT="95250" marB="95250" anchor="ctr">
                    <a:lnL w="6668">
                      <a:solidFill>
                        <a:srgbClr val="D8D8D8"/>
                      </a:solidFill>
                      <a:prstDash val="solid"/>
                    </a:lnL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53 308 / 22 449</a:t>
                      </a:r>
                    </a:p>
                  </a:txBody>
                  <a:tcPr marL="133350" marR="133350" marT="95250" marB="95250" anchor="ctr"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site_eui · RMSE ниже лучше</a:t>
                      </a:r>
                    </a:p>
                  </a:txBody>
                  <a:tcPr marL="133350" marR="133350" marT="95250" marB="95250" anchor="ctr"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9366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Сетевые атаки</a:t>
                      </a:r>
                    </a:p>
                  </a:txBody>
                  <a:tcPr marL="133350" marR="133350" marT="95250" marB="95250" anchor="ctr">
                    <a:lnL w="6668">
                      <a:solidFill>
                        <a:srgbClr val="D8D8D8"/>
                      </a:solidFill>
                      <a:prstDash val="solid"/>
                    </a:lnL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87 670 / 41 166</a:t>
                      </a:r>
                    </a:p>
                  </a:txBody>
                  <a:tcPr marL="133350" marR="133350" marT="95250" marB="95250" anchor="ctr"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 классов · Macro F1 выше лучше</a:t>
                      </a:r>
                    </a:p>
                  </a:txBody>
                  <a:tcPr marL="133350" marR="133350" marT="95250" marB="95250" anchor="ctr"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На private возможны текстовые и табличные данные">
            <a:extLst xmlns:a="http://schemas.openxmlformats.org/drawingml/2006/main">
              <a:ext uri="{FF2B5EF4-FFF2-40B4-BE49-F238E27FC236}">
                <a16:creationId xmlns:a16="http://schemas.microsoft.com/office/drawing/2014/main" id="{F00FE369-F36A-44C1-8CC1-69B60B7B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EC2427"/>
                </a:solidFill>
                <a:latin typeface="DejaVu Sans"/>
                <a:ea typeface="DejaVu Sans"/>
                <a:cs typeface="DejaVu Sans"/>
              </a:rPr>
              <a:t>На private возможны текстовые и табличные данные</a:t>
            </a:r>
          </a:p>
        </p:txBody>
      </p:sp>
    </p:spTree>
    <p:extLst>
      <p:ext uri="{BB962C8B-B14F-4D97-AF65-F5344CB8AC3E}">
        <p14:creationId xmlns:p14="http://schemas.microsoft.com/office/powerpoint/2010/main" val="3294804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Как получают баллы">
            <a:extLst xmlns:a="http://schemas.openxmlformats.org/drawingml/2006/main">
              <a:ext uri="{FF2B5EF4-FFF2-40B4-BE49-F238E27FC236}">
                <a16:creationId xmlns:a16="http://schemas.microsoft.com/office/drawing/2014/main" id="{E38CB21B-3144-401E-AD39-7CF3BB4F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Как получают баллы</a:t>
            </a:r>
          </a:p>
        </p:txBody>
      </p:sp>
      <p:sp>
        <p:nvSpPr>
          <p:cNvPr id="2" name="Балл каждой задачи нормируют относительно её baseline">
            <a:extLst xmlns:a="http://schemas.openxmlformats.org/drawingml/2006/main">
              <a:ext uri="{FF2B5EF4-FFF2-40B4-BE49-F238E27FC236}">
                <a16:creationId xmlns:a16="http://schemas.microsoft.com/office/drawing/2014/main" id="{85696D6A-2AED-47CE-BF24-1BA928A6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Балл каждой задачи нормируют относительно её baseline</a:t>
            </a:r>
          </a:p>
        </p:txBody>
      </p:sp>
      <p:sp>
        <p:nvSpPr>
          <p:cNvPr id="3" name="Результат на уровне baseline или хуже даёт 0 баллов">
            <a:extLst xmlns:a="http://schemas.openxmlformats.org/drawingml/2006/main">
              <a:ext uri="{FF2B5EF4-FFF2-40B4-BE49-F238E27FC236}">
                <a16:creationId xmlns:a16="http://schemas.microsoft.com/office/drawing/2014/main" id="{BD6E516A-488D-4AD3-948D-9CDA4B07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Результат на уровне baseline или хуже даёт 0 баллов</a:t>
            </a:r>
          </a:p>
        </p:txBody>
      </p:sp>
      <p:sp>
        <p:nvSpPr>
          <p:cNvPr id="4" name="Public и private считают отдельно по двум задачам">
            <a:extLst xmlns:a="http://schemas.openxmlformats.org/drawingml/2006/main">
              <a:ext uri="{FF2B5EF4-FFF2-40B4-BE49-F238E27FC236}">
                <a16:creationId xmlns:a16="http://schemas.microsoft.com/office/drawing/2014/main" id="{893723CE-50D1-49A7-8B31-D8FD908F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Public и private считают отдельно по двум задачам</a:t>
            </a:r>
          </a:p>
        </p:txBody>
      </p:sp>
      <p:sp>
        <p:nvSpPr>
          <p:cNvPr id="5" name="RMSE / Macro F1 на holdout ≠ баллы платформы">
            <a:extLst xmlns:a="http://schemas.openxmlformats.org/drawingml/2006/main">
              <a:ext uri="{FF2B5EF4-FFF2-40B4-BE49-F238E27FC236}">
                <a16:creationId xmlns:a16="http://schemas.microsoft.com/office/drawing/2014/main" id="{123D9A19-3E5B-48E9-8F40-8B915C3B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EC2427"/>
                </a:solidFill>
                <a:latin typeface="DejaVu Sans"/>
                <a:ea typeface="DejaVu Sans"/>
                <a:cs typeface="DejaVu Sans"/>
              </a:rPr>
              <a:t>RMSE / Macro F1 на holdout ≠ баллы платформы</a:t>
            </a:r>
          </a:p>
        </p:txBody>
      </p:sp>
    </p:spTree>
    <p:extLst>
      <p:ext uri="{BB962C8B-B14F-4D97-AF65-F5344CB8AC3E}">
        <p14:creationId xmlns:p14="http://schemas.microsoft.com/office/powerpoint/2010/main" val="4952520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Первая версия агента">
            <a:extLst xmlns:a="http://schemas.openxmlformats.org/drawingml/2006/main">
              <a:ext uri="{FF2B5EF4-FFF2-40B4-BE49-F238E27FC236}">
                <a16:creationId xmlns:a16="http://schemas.microsoft.com/office/drawing/2014/main" id="{9BABB85C-6BD7-4DD1-9955-64BB0660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Первая версия агента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B1AED-576B-4CF4-98EE-5A35E369C9A1}"/>
              </a:ext>
            </a:extLst>
          </p:cNvPr>
          <p:cNvGraphicFramePr/>
          <p:nvPr/>
        </p:nvGraphicFramePr>
        <p:xfrm>
          <a:off xmlns:a="http://schemas.openxmlformats.org/drawingml/2006/main" x="666750" y="1695450"/>
          <a:ext xmlns:a="http://schemas.openxmlformats.org/drawingml/2006/main" cx="10858500" cy="4143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286750"/>
              </a:tblGrid>
              <a:tr h="6905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Этап</a:t>
                      </a:r>
                    </a:p>
                  </a:txBody>
                  <a:tcPr marL="133350" marR="133350" marT="95250" marB="95250" anchor="ctr">
                    <a:lnL w="6668">
                      <a:solidFill>
                        <a:srgbClr val="D8D8D8"/>
                      </a:solidFill>
                      <a:prstDash val="solid"/>
                    </a:lnL>
                    <a:lnR w="6668">
                      <a:solidFill>
                        <a:srgbClr val="D8D8D8"/>
                      </a:solidFill>
                      <a:prstDash val="solid"/>
                    </a:lnR>
                    <a:lnT w="6668">
                      <a:solidFill>
                        <a:srgbClr val="D8D8D8"/>
                      </a:solidFill>
                      <a:prstDash val="solid"/>
                    </a:lnT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Ответственность</a:t>
                      </a:r>
                    </a:p>
                  </a:txBody>
                  <a:tcPr marL="133350" marR="133350" marT="95250" marB="95250" anchor="ctr">
                    <a:lnR w="6668">
                      <a:solidFill>
                        <a:srgbClr val="D8D8D8"/>
                      </a:solidFill>
                      <a:prstDash val="solid"/>
                    </a:lnR>
                    <a:lnT w="6668">
                      <a:solidFill>
                        <a:srgbClr val="D8D8D8"/>
                      </a:solidFill>
                      <a:prstDash val="solid"/>
                    </a:lnT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Разбор задачи</a:t>
                      </a:r>
                    </a:p>
                  </a:txBody>
                  <a:tcPr marL="133350" marR="133350" marT="95250" marB="95250" anchor="ctr">
                    <a:lnL w="6668">
                      <a:solidFill>
                        <a:srgbClr val="D8D8D8"/>
                      </a:solidFill>
                      <a:prstDash val="solid"/>
                    </a:lnL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Файлы, target/id, метрика, профиль и split</a:t>
                      </a:r>
                    </a:p>
                  </a:txBody>
                  <a:tcPr marL="133350" marR="133350" marT="95250" marB="95250" anchor="ctr"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Ранний прогноз</a:t>
                      </a:r>
                    </a:p>
                  </a:txBody>
                  <a:tcPr marL="133350" marR="133350" marT="95250" marB="95250" anchor="ctr">
                    <a:lnL w="6668">
                      <a:solidFill>
                        <a:srgbClr val="D8D8D8"/>
                      </a:solidFill>
                      <a:prstDash val="solid"/>
                    </a:lnL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Сохранение корректного fallback</a:t>
                      </a:r>
                    </a:p>
                  </a:txBody>
                  <a:tcPr marL="133350" marR="133350" marT="95250" marB="95250" anchor="ctr"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Qwen</a:t>
                      </a:r>
                    </a:p>
                  </a:txBody>
                  <a:tcPr marL="133350" marR="133350" marT="95250" marB="95250" anchor="ctr">
                    <a:lnL w="6668">
                      <a:solidFill>
                        <a:srgbClr val="D8D8D8"/>
                      </a:solidFill>
                      <a:prstDash val="solid"/>
                    </a:lnL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Гипотеза, параметры, код новых признаков</a:t>
                      </a:r>
                    </a:p>
                  </a:txBody>
                  <a:tcPr marL="133350" marR="133350" marT="95250" marB="95250" anchor="ctr"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Worker</a:t>
                      </a:r>
                    </a:p>
                  </a:txBody>
                  <a:tcPr marL="133350" marR="133350" marT="95250" marB="95250" anchor="ctr">
                    <a:lnL w="6668">
                      <a:solidFill>
                        <a:srgbClr val="D8D8D8"/>
                      </a:solidFill>
                      <a:prstDash val="solid"/>
                    </a:lnL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Обучение, измерение, проверка файла</a:t>
                      </a:r>
                    </a:p>
                  </a:txBody>
                  <a:tcPr marL="133350" marR="133350" marT="95250" marB="95250" anchor="ctr"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Контроллер</a:t>
                      </a:r>
                    </a:p>
                  </a:txBody>
                  <a:tcPr marL="133350" marR="133350" marT="95250" marB="95250" anchor="ctr">
                    <a:lnL w="6668">
                      <a:solidFill>
                        <a:srgbClr val="D8D8D8"/>
                      </a:solidFill>
                      <a:prstDash val="solid"/>
                    </a:lnL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Best checkpoint, deadline, финальное обучение</a:t>
                      </a:r>
                    </a:p>
                  </a:txBody>
                  <a:tcPr marL="133350" marR="133350" marT="95250" marB="95250" anchor="ctr"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24070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Результаты локальных прогонов">
            <a:extLst xmlns:a="http://schemas.openxmlformats.org/drawingml/2006/main">
              <a:ext uri="{FF2B5EF4-FFF2-40B4-BE49-F238E27FC236}">
                <a16:creationId xmlns:a16="http://schemas.microsoft.com/office/drawing/2014/main" id="{77BD11A3-30B3-44E8-A665-EB2FF35C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Результаты локальных прогонов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57B1B-4659-4555-BBAD-C665BFA39991}"/>
              </a:ext>
            </a:extLst>
          </p:cNvPr>
          <p:cNvGraphicFramePr/>
          <p:nvPr/>
        </p:nvGraphicFramePr>
        <p:xfrm>
          <a:off xmlns:a="http://schemas.openxmlformats.org/drawingml/2006/main" x="666750" y="1695450"/>
          <a:ext xmlns:a="http://schemas.openxmlformats.org/drawingml/2006/main" cx="108585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476625"/>
                <a:gridCol w="3667125"/>
              </a:tblGrid>
              <a:tr h="920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Задача</a:t>
                      </a:r>
                    </a:p>
                  </a:txBody>
                  <a:tcPr marL="133350" marR="133350" marT="95250" marB="95250" anchor="ctr">
                    <a:lnL w="6668">
                      <a:solidFill>
                        <a:srgbClr val="D8D8D8"/>
                      </a:solidFill>
                      <a:prstDash val="solid"/>
                    </a:lnL>
                    <a:lnR w="6668">
                      <a:solidFill>
                        <a:srgbClr val="D8D8D8"/>
                      </a:solidFill>
                      <a:prstDash val="solid"/>
                    </a:lnR>
                    <a:lnT w="6668">
                      <a:solidFill>
                        <a:srgbClr val="D8D8D8"/>
                      </a:solidFill>
                      <a:prstDash val="solid"/>
                    </a:lnT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Константный прогноз</a:t>
                      </a:r>
                    </a:p>
                  </a:txBody>
                  <a:tcPr marL="133350" marR="133350" marT="95250" marB="95250" anchor="ctr">
                    <a:lnR w="6668">
                      <a:solidFill>
                        <a:srgbClr val="D8D8D8"/>
                      </a:solidFill>
                      <a:prstDash val="solid"/>
                    </a:lnR>
                    <a:lnT w="6668">
                      <a:solidFill>
                        <a:srgbClr val="D8D8D8"/>
                      </a:solidFill>
                      <a:prstDash val="solid"/>
                    </a:lnT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Лучший результат</a:t>
                      </a:r>
                    </a:p>
                  </a:txBody>
                  <a:tcPr marL="133350" marR="133350" marT="95250" marB="95250" anchor="ctr">
                    <a:lnR w="6668">
                      <a:solidFill>
                        <a:srgbClr val="D8D8D8"/>
                      </a:solidFill>
                      <a:prstDash val="solid"/>
                    </a:lnR>
                    <a:lnT w="6668">
                      <a:solidFill>
                        <a:srgbClr val="D8D8D8"/>
                      </a:solidFill>
                      <a:prstDash val="solid"/>
                    </a:lnT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</a:tr>
              <a:tr h="9207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Регрессия · RMSE</a:t>
                      </a:r>
                    </a:p>
                  </a:txBody>
                  <a:tcPr marL="133350" marR="133350" marT="95250" marB="95250" anchor="ctr">
                    <a:lnL w="6668">
                      <a:solidFill>
                        <a:srgbClr val="D8D8D8"/>
                      </a:solidFill>
                      <a:prstDash val="solid"/>
                    </a:lnL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59.715</a:t>
                      </a:r>
                    </a:p>
                  </a:txBody>
                  <a:tcPr marL="133350" marR="133350" marT="95250" marB="95250" anchor="ctr"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43.607</a:t>
                      </a:r>
                    </a:p>
                  </a:txBody>
                  <a:tcPr marL="133350" marR="133350" marT="95250" marB="95250" anchor="ctr"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9207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Атаки · Macro F1</a:t>
                      </a:r>
                    </a:p>
                  </a:txBody>
                  <a:tcPr marL="133350" marR="133350" marT="95250" marB="95250" anchor="ctr">
                    <a:lnL w="6668">
                      <a:solidFill>
                        <a:srgbClr val="D8D8D8"/>
                      </a:solidFill>
                      <a:prstDash val="solid"/>
                    </a:lnL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0.0490</a:t>
                      </a:r>
                    </a:p>
                  </a:txBody>
                  <a:tcPr marL="133350" marR="133350" marT="95250" marB="95250" anchor="ctr"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0.6036</a:t>
                      </a:r>
                    </a:p>
                  </a:txBody>
                  <a:tcPr marL="133350" marR="133350" marT="95250" marB="95250" anchor="ctr"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Дубликаты разделены между обучением и валидацией">
            <a:extLst xmlns:a="http://schemas.openxmlformats.org/drawingml/2006/main">
              <a:ext uri="{FF2B5EF4-FFF2-40B4-BE49-F238E27FC236}">
                <a16:creationId xmlns:a16="http://schemas.microsoft.com/office/drawing/2014/main" id="{CB118AA1-2B49-42B8-9D70-5A70D7F6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Дубликаты разделены между обучением и валидацией</a:t>
            </a:r>
          </a:p>
        </p:txBody>
      </p:sp>
      <p:sp>
        <p:nvSpPr>
          <p:cNvPr id="4" name="Метрики показывают рабочую отправную точку">
            <a:extLst xmlns:a="http://schemas.openxmlformats.org/drawingml/2006/main">
              <a:ext uri="{FF2B5EF4-FFF2-40B4-BE49-F238E27FC236}">
                <a16:creationId xmlns:a16="http://schemas.microsoft.com/office/drawing/2014/main" id="{1BA2358C-AF3E-485D-AEF2-1EC248D1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4646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64646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64646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64646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64646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64646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64646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64646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64646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64646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464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646464"/>
                </a:solidFill>
                <a:latin typeface="DejaVu Sans"/>
                <a:ea typeface="DejaVu Sans"/>
                <a:cs typeface="DejaVu Sans"/>
              </a:rPr>
              <a:t>Метрики показывают рабочую отправную точку</a:t>
            </a:r>
          </a:p>
        </p:txBody>
      </p:sp>
    </p:spTree>
    <p:extLst>
      <p:ext uri="{BB962C8B-B14F-4D97-AF65-F5344CB8AC3E}">
        <p14:creationId xmlns:p14="http://schemas.microsoft.com/office/powerpoint/2010/main" val="2485677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Что показало подключение к Qwen">
            <a:extLst xmlns:a="http://schemas.openxmlformats.org/drawingml/2006/main">
              <a:ext uri="{FF2B5EF4-FFF2-40B4-BE49-F238E27FC236}">
                <a16:creationId xmlns:a16="http://schemas.microsoft.com/office/drawing/2014/main" id="{1FB675C0-98B4-4A2F-8373-33E1CCBE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Что показало подключение к Qwen</a:t>
            </a:r>
          </a:p>
        </p:txBody>
      </p:sp>
      <p:sp>
        <p:nvSpPr>
          <p:cNvPr id="2" name="Ключ и endpoint работают. Расход проверяется через /key">
            <a:extLst xmlns:a="http://schemas.openxmlformats.org/drawingml/2006/main">
              <a:ext uri="{FF2B5EF4-FFF2-40B4-BE49-F238E27FC236}">
                <a16:creationId xmlns:a16="http://schemas.microsoft.com/office/drawing/2014/main" id="{C6B735AB-9C27-4A74-A327-3B099129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Ключ и endpoint работают. Расход проверяется через /key/info</a:t>
            </a:r>
          </a:p>
        </p:txBody>
      </p:sp>
      <p:sp>
        <p:nvSpPr>
          <p:cNvPr id="3" name="Короткий лимит ответа может обрезать JSON после reasoni">
            <a:extLst xmlns:a="http://schemas.openxmlformats.org/drawingml/2006/main">
              <a:ext uri="{FF2B5EF4-FFF2-40B4-BE49-F238E27FC236}">
                <a16:creationId xmlns:a16="http://schemas.microsoft.com/office/drawing/2014/main" id="{12B3A031-2D04-4154-8020-4B56C217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Короткий лимит ответа может обрезать JSON после reasoning</a:t>
            </a:r>
          </a:p>
        </p:txBody>
      </p:sp>
      <p:sp>
        <p:nvSpPr>
          <p:cNvPr id="4" name="При сбое LLM агент продолжает с последним корректным пр">
            <a:extLst xmlns:a="http://schemas.openxmlformats.org/drawingml/2006/main">
              <a:ext uri="{FF2B5EF4-FFF2-40B4-BE49-F238E27FC236}">
                <a16:creationId xmlns:a16="http://schemas.microsoft.com/office/drawing/2014/main" id="{34618802-1907-45F2-8AFB-15FB1511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957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При сбое LLM агент продолжает с последним корректным прогнозом</a:t>
            </a:r>
          </a:p>
        </p:txBody>
      </p:sp>
      <p:sp>
        <p:nvSpPr>
          <p:cNvPr id="5" name="Расход по общему ключу за время работы: 10.80 ₽">
            <a:extLst xmlns:a="http://schemas.openxmlformats.org/drawingml/2006/main">
              <a:ext uri="{FF2B5EF4-FFF2-40B4-BE49-F238E27FC236}">
                <a16:creationId xmlns:a16="http://schemas.microsoft.com/office/drawing/2014/main" id="{B38781C4-1752-47D3-824D-D6ED7213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7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7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7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7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7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7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7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7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7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C2427"/>
                </a:solidFill>
                <a:latin typeface="DejaVu Sans"/>
                <a:ea typeface="DejaVu Sans"/>
                <a:cs typeface="DejaVu Sans"/>
              </a:rPr>
              <a:t>Расход по общему ключу за время работы: 10.80 ₽</a:t>
            </a:r>
          </a:p>
        </p:txBody>
      </p:sp>
    </p:spTree>
    <p:extLst>
      <p:ext uri="{BB962C8B-B14F-4D97-AF65-F5344CB8AC3E}">
        <p14:creationId xmlns:p14="http://schemas.microsoft.com/office/powerpoint/2010/main" val="7911697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Риски данных и скрытых задач">
            <a:extLst xmlns:a="http://schemas.openxmlformats.org/drawingml/2006/main">
              <a:ext uri="{FF2B5EF4-FFF2-40B4-BE49-F238E27FC236}">
                <a16:creationId xmlns:a16="http://schemas.microsoft.com/office/drawing/2014/main" id="{D923DFEF-8418-447C-8457-0E8D6149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Риски данных и скрытых задач</a:t>
            </a:r>
          </a:p>
        </p:txBody>
      </p:sp>
      <p:sp>
        <p:nvSpPr>
          <p:cNvPr id="2" name="Macro F1 чувствителен к редким классам и дубликатам">
            <a:extLst xmlns:a="http://schemas.openxmlformats.org/drawingml/2006/main">
              <a:ext uri="{FF2B5EF4-FFF2-40B4-BE49-F238E27FC236}">
                <a16:creationId xmlns:a16="http://schemas.microsoft.com/office/drawing/2014/main" id="{062DE88C-BEB4-4051-B21C-6BC59159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66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Macro F1 чувствителен к редким классам и дубликатам</a:t>
            </a:r>
          </a:p>
        </p:txBody>
      </p:sp>
      <p:sp>
        <p:nvSpPr>
          <p:cNvPr id="3" name="В регрессии заметно меняется доля пропусков train/test">
            <a:extLst xmlns:a="http://schemas.openxmlformats.org/drawingml/2006/main">
              <a:ext uri="{FF2B5EF4-FFF2-40B4-BE49-F238E27FC236}">
                <a16:creationId xmlns:a16="http://schemas.microsoft.com/office/drawing/2014/main" id="{4AE386FE-1C8F-4C41-A41F-475C1A35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66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В регрессии заметно меняется доля пропусков train/test</a:t>
            </a:r>
          </a:p>
        </p:txBody>
      </p:sp>
      <p:sp>
        <p:nvSpPr>
          <p:cNvPr id="4" name="Текстовый путь и неизвестные схемы требуют отдельных пр">
            <a:extLst xmlns:a="http://schemas.openxmlformats.org/drawingml/2006/main">
              <a:ext uri="{FF2B5EF4-FFF2-40B4-BE49-F238E27FC236}">
                <a16:creationId xmlns:a16="http://schemas.microsoft.com/office/drawing/2014/main" id="{D2EEEE0D-5E37-4361-8AE5-36343896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66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Текстовый путь и неизвестные схемы требуют отдельных проверок</a:t>
            </a:r>
          </a:p>
        </p:txBody>
      </p:sp>
      <p:sp>
        <p:nvSpPr>
          <p:cNvPr id="5" name="Один holdout пока не доказывает устойчивость решения">
            <a:extLst xmlns:a="http://schemas.openxmlformats.org/drawingml/2006/main">
              <a:ext uri="{FF2B5EF4-FFF2-40B4-BE49-F238E27FC236}">
                <a16:creationId xmlns:a16="http://schemas.microsoft.com/office/drawing/2014/main" id="{E621C5E8-044B-4751-91E0-21F31B92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66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Один holdout пока не доказывает устойчивость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4381863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Пять владельцев результатов">
            <a:extLst xmlns:a="http://schemas.openxmlformats.org/drawingml/2006/main">
              <a:ext uri="{FF2B5EF4-FFF2-40B4-BE49-F238E27FC236}">
                <a16:creationId xmlns:a16="http://schemas.microsoft.com/office/drawing/2014/main" id="{E14259E7-86B7-4DDF-8789-6400EA2A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Пять владельцев результатов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79B6C-16C0-4FB6-8804-0B10237F524B}"/>
              </a:ext>
            </a:extLst>
          </p:cNvPr>
          <p:cNvGraphicFramePr/>
          <p:nvPr/>
        </p:nvGraphicFramePr>
        <p:xfrm>
          <a:off xmlns:a="http://schemas.openxmlformats.org/drawingml/2006/main" x="666750" y="1695450"/>
          <a:ext xmlns:a="http://schemas.openxmlformats.org/drawingml/2006/main" cx="108585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477250"/>
              </a:tblGrid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Кто</a:t>
                      </a:r>
                    </a:p>
                  </a:txBody>
                  <a:tcPr marL="133350" marR="133350" marT="95250" marB="95250" anchor="ctr">
                    <a:lnL w="6668">
                      <a:solidFill>
                        <a:srgbClr val="D8D8D8"/>
                      </a:solidFill>
                      <a:prstDash val="solid"/>
                    </a:lnL>
                    <a:lnR w="6668">
                      <a:solidFill>
                        <a:srgbClr val="D8D8D8"/>
                      </a:solidFill>
                      <a:prstDash val="solid"/>
                    </a:lnR>
                    <a:lnT w="6668">
                      <a:solidFill>
                        <a:srgbClr val="D8D8D8"/>
                      </a:solidFill>
                      <a:prstDash val="solid"/>
                    </a:lnT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Основной результат</a:t>
                      </a:r>
                    </a:p>
                  </a:txBody>
                  <a:tcPr marL="133350" marR="133350" marT="95250" marB="95250" anchor="ctr">
                    <a:lnR w="6668">
                      <a:solidFill>
                        <a:srgbClr val="D8D8D8"/>
                      </a:solidFill>
                      <a:prstDash val="solid"/>
                    </a:lnR>
                    <a:lnT w="6668">
                      <a:solidFill>
                        <a:srgbClr val="D8D8D8"/>
                      </a:solidFill>
                      <a:prstDash val="solid"/>
                    </a:lnT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P1 · Pro</a:t>
                      </a:r>
                    </a:p>
                  </a:txBody>
                  <a:tcPr marL="133350" marR="133350" marT="95250" marB="95250" anchor="ctr">
                    <a:lnL w="6668">
                      <a:solidFill>
                        <a:srgbClr val="D8D8D8"/>
                      </a:solidFill>
                      <a:prstDash val="solid"/>
                    </a:lnL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Архитектура, управление агентом и интеграция</a:t>
                      </a:r>
                    </a:p>
                  </a:txBody>
                  <a:tcPr marL="133350" marR="133350" marT="95250" marB="95250" anchor="ctr"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P2 · Pro</a:t>
                      </a:r>
                    </a:p>
                  </a:txBody>
                  <a:tcPr marL="133350" marR="133350" marT="95250" marB="95250" anchor="ctr">
                    <a:lnL w="6668">
                      <a:solidFill>
                        <a:srgbClr val="D8D8D8"/>
                      </a:solidFill>
                      <a:prstDash val="solid"/>
                    </a:lnL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Независимая валидация, скрытые задачи и текст</a:t>
                      </a:r>
                    </a:p>
                  </a:txBody>
                  <a:tcPr marL="133350" marR="133350" marT="95250" marB="95250" anchor="ctr"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P3 · ML</a:t>
                      </a:r>
                    </a:p>
                  </a:txBody>
                  <a:tcPr marL="133350" marR="133350" marT="95250" marB="95250" anchor="ctr">
                    <a:lnL w="6668">
                      <a:solidFill>
                        <a:srgbClr val="D8D8D8"/>
                      </a:solidFill>
                      <a:prstDash val="solid"/>
                    </a:lnL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Регрессия и проверка гипотез</a:t>
                      </a:r>
                    </a:p>
                  </a:txBody>
                  <a:tcPr marL="133350" marR="133350" marT="95250" marB="95250" anchor="ctr"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P4 · ML</a:t>
                      </a:r>
                    </a:p>
                  </a:txBody>
                  <a:tcPr marL="133350" marR="133350" marT="95250" marB="95250" anchor="ctr">
                    <a:lnL w="6668">
                      <a:solidFill>
                        <a:srgbClr val="D8D8D8"/>
                      </a:solidFill>
                      <a:prstDash val="solid"/>
                    </a:lnL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Macro F1, классы, дубликаты</a:t>
                      </a:r>
                    </a:p>
                  </a:txBody>
                  <a:tcPr marL="133350" marR="133350" marT="95250" marB="95250" anchor="ctr"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P5 · AI/аналитика</a:t>
                      </a:r>
                    </a:p>
                  </a:txBody>
                  <a:tcPr marL="133350" marR="133350" marT="95250" marB="95250" anchor="ctr">
                    <a:lnL w="6668">
                      <a:solidFill>
                        <a:srgbClr val="D8D8D8"/>
                      </a:solidFill>
                      <a:prstDash val="solid"/>
                    </a:lnL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Общий контекст, промпты, журнал и бюджет</a:t>
                      </a:r>
                    </a:p>
                  </a:txBody>
                  <a:tcPr marL="133350" marR="133350" marT="95250" marB="95250" anchor="ctr"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74227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Общий контекст для всех ИИ">
            <a:extLst xmlns:a="http://schemas.openxmlformats.org/drawingml/2006/main">
              <a:ext uri="{FF2B5EF4-FFF2-40B4-BE49-F238E27FC236}">
                <a16:creationId xmlns:a16="http://schemas.microsoft.com/office/drawing/2014/main" id="{50A54C1E-03D7-4F21-B2AB-504D8FFC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Общий контекст для всех ИИ</a:t>
            </a:r>
          </a:p>
        </p:txBody>
      </p:sp>
      <p:sp>
        <p:nvSpPr>
          <p:cNvPr id="2" name="Каждое задание начинается с одной версии TEAM_CONTEXT">
            <a:extLst xmlns:a="http://schemas.openxmlformats.org/drawingml/2006/main">
              <a:ext uri="{FF2B5EF4-FFF2-40B4-BE49-F238E27FC236}">
                <a16:creationId xmlns:a16="http://schemas.microsoft.com/office/drawing/2014/main" id="{AE6D358D-E9D1-4BDA-A195-7042136B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6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6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6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6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6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6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6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6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6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EC2427"/>
                </a:solidFill>
                <a:latin typeface="DejaVu Sans"/>
                <a:ea typeface="DejaVu Sans"/>
                <a:cs typeface="DejaVu Sans"/>
              </a:rPr>
              <a:t>Каждое задание начинается с одной версии TEAM_CONTEXT</a:t>
            </a:r>
          </a:p>
        </p:txBody>
      </p:sp>
      <p:sp>
        <p:nvSpPr>
          <p:cNvPr id="3" name="Контракт платформы и разрешённые зависимости">
            <a:extLst xmlns:a="http://schemas.openxmlformats.org/drawingml/2006/main">
              <a:ext uri="{FF2B5EF4-FFF2-40B4-BE49-F238E27FC236}">
                <a16:creationId xmlns:a16="http://schemas.microsoft.com/office/drawing/2014/main" id="{9025D4F7-2459-4F48-B1E2-EE21F1AA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Контракт платформы и разрешённые зависимости</a:t>
            </a:r>
          </a:p>
        </p:txBody>
      </p:sp>
      <p:sp>
        <p:nvSpPr>
          <p:cNvPr id="4" name="Владелец файла и неизменные интерфейсы">
            <a:extLst xmlns:a="http://schemas.openxmlformats.org/drawingml/2006/main">
              <a:ext uri="{FF2B5EF4-FFF2-40B4-BE49-F238E27FC236}">
                <a16:creationId xmlns:a16="http://schemas.microsoft.com/office/drawing/2014/main" id="{506FE54B-7EB7-4B2A-AF60-67F5A763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0522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Владелец файла и неизменные интерфейсы</a:t>
            </a:r>
          </a:p>
        </p:txBody>
      </p:sp>
      <p:sp>
        <p:nvSpPr>
          <p:cNvPr id="5" name="Фиксированная выборка и один изменяемый фактор">
            <a:extLst xmlns:a="http://schemas.openxmlformats.org/drawingml/2006/main">
              <a:ext uri="{FF2B5EF4-FFF2-40B4-BE49-F238E27FC236}">
                <a16:creationId xmlns:a16="http://schemas.microsoft.com/office/drawing/2014/main" id="{A0813D4A-05DE-4CEC-90F7-95454884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Фиксированная выборка и один изменяемый фактор</a:t>
            </a:r>
          </a:p>
        </p:txBody>
      </p:sp>
      <p:sp>
        <p:nvSpPr>
          <p:cNvPr id="6" name="Команда запуска, фактический лог и измеримый результат">
            <a:extLst xmlns:a="http://schemas.openxmlformats.org/drawingml/2006/main">
              <a:ext uri="{FF2B5EF4-FFF2-40B4-BE49-F238E27FC236}">
                <a16:creationId xmlns:a16="http://schemas.microsoft.com/office/drawing/2014/main" id="{FCA93A09-FA55-417F-8262-94ADC20E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Команда запуска, фактический лог и измеримый результат</a:t>
            </a:r>
          </a:p>
        </p:txBody>
      </p:sp>
    </p:spTree>
    <p:extLst>
      <p:ext uri="{BB962C8B-B14F-4D97-AF65-F5344CB8AC3E}">
        <p14:creationId xmlns:p14="http://schemas.microsoft.com/office/powerpoint/2010/main" val="15367718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Порядок работы с изменениями">
            <a:extLst xmlns:a="http://schemas.openxmlformats.org/drawingml/2006/main">
              <a:ext uri="{FF2B5EF4-FFF2-40B4-BE49-F238E27FC236}">
                <a16:creationId xmlns:a16="http://schemas.microsoft.com/office/drawing/2014/main" id="{D3099040-D373-4659-B370-9905041F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Порядок работы с изменениями</a:t>
            </a:r>
          </a:p>
        </p:txBody>
      </p:sp>
      <p:sp>
        <p:nvSpPr>
          <p:cNvPr id="2" name="Issue формулирует одну гипотезу и критерий приёмки">
            <a:extLst xmlns:a="http://schemas.openxmlformats.org/drawingml/2006/main">
              <a:ext uri="{FF2B5EF4-FFF2-40B4-BE49-F238E27FC236}">
                <a16:creationId xmlns:a16="http://schemas.microsoft.com/office/drawing/2014/main" id="{DD14C6EB-35F8-4BB2-9DEF-7BDA9D1F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Issue формулирует одну гипотезу и критерий приёмки</a:t>
            </a:r>
          </a:p>
        </p:txBody>
      </p:sp>
      <p:sp>
        <p:nvSpPr>
          <p:cNvPr id="3" name="Исполнитель запускает код и прикладывает результат">
            <a:extLst xmlns:a="http://schemas.openxmlformats.org/drawingml/2006/main">
              <a:ext uri="{FF2B5EF4-FFF2-40B4-BE49-F238E27FC236}">
                <a16:creationId xmlns:a16="http://schemas.microsoft.com/office/drawing/2014/main" id="{CB34C7B0-4DE9-46D8-A354-40583A4A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Исполнитель запускает код и прикладывает результат</a:t>
            </a:r>
          </a:p>
        </p:txBody>
      </p:sp>
      <p:sp>
        <p:nvSpPr>
          <p:cNvPr id="4" name="Другой участник проверяет diff и воспроизводимость">
            <a:extLst xmlns:a="http://schemas.openxmlformats.org/drawingml/2006/main">
              <a:ext uri="{FF2B5EF4-FFF2-40B4-BE49-F238E27FC236}">
                <a16:creationId xmlns:a16="http://schemas.microsoft.com/office/drawing/2014/main" id="{D520EEE1-187A-4164-880C-5CCC76A1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Другой участник проверяет diff и воспроизводимость</a:t>
            </a:r>
          </a:p>
        </p:txBody>
      </p:sp>
      <p:sp>
        <p:nvSpPr>
          <p:cNvPr id="5" name="Интегратор объединяет изменение и проверяет обе задачи">
            <a:extLst xmlns:a="http://schemas.openxmlformats.org/drawingml/2006/main">
              <a:ext uri="{FF2B5EF4-FFF2-40B4-BE49-F238E27FC236}">
                <a16:creationId xmlns:a16="http://schemas.microsoft.com/office/drawing/2014/main" id="{718D69A1-D0D4-4AA2-A982-C88FC04B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Интегратор объединяет изменение и проверяет обе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16730992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Первые 24 часа после встречи">
            <a:extLst xmlns:a="http://schemas.openxmlformats.org/drawingml/2006/main">
              <a:ext uri="{FF2B5EF4-FFF2-40B4-BE49-F238E27FC236}">
                <a16:creationId xmlns:a16="http://schemas.microsoft.com/office/drawing/2014/main" id="{8933EFE8-FC1E-48D8-9D21-72AAA967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Первые 24 часа после встречи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B4B1E-8752-4B11-812B-65E96A0DC2E4}"/>
              </a:ext>
            </a:extLst>
          </p:cNvPr>
          <p:cNvGraphicFramePr/>
          <p:nvPr/>
        </p:nvGraphicFramePr>
        <p:xfrm>
          <a:off xmlns:a="http://schemas.openxmlformats.org/drawingml/2006/main" x="666750" y="1695450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47725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Поток</a:t>
                      </a:r>
                    </a:p>
                  </a:txBody>
                  <a:tcPr marL="133350" marR="133350" marT="95250" marB="95250" anchor="ctr">
                    <a:lnL w="6668">
                      <a:solidFill>
                        <a:srgbClr val="D8D8D8"/>
                      </a:solidFill>
                      <a:prstDash val="solid"/>
                    </a:lnL>
                    <a:lnR w="6668">
                      <a:solidFill>
                        <a:srgbClr val="D8D8D8"/>
                      </a:solidFill>
                      <a:prstDash val="solid"/>
                    </a:lnR>
                    <a:lnT w="6668">
                      <a:solidFill>
                        <a:srgbClr val="D8D8D8"/>
                      </a:solidFill>
                      <a:prstDash val="solid"/>
                    </a:lnT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Обязательный выход</a:t>
                      </a:r>
                    </a:p>
                  </a:txBody>
                  <a:tcPr marL="133350" marR="133350" marT="95250" marB="95250" anchor="ctr">
                    <a:lnR w="6668">
                      <a:solidFill>
                        <a:srgbClr val="D8D8D8"/>
                      </a:solidFill>
                      <a:prstDash val="solid"/>
                    </a:lnR>
                    <a:lnT w="6668">
                      <a:solidFill>
                        <a:srgbClr val="D8D8D8"/>
                      </a:solidFill>
                      <a:prstDash val="solid"/>
                    </a:lnT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P1 + P2</a:t>
                      </a:r>
                    </a:p>
                  </a:txBody>
                  <a:tcPr marL="133350" marR="133350" marT="95250" marB="95250" anchor="ctr">
                    <a:lnL w="6668">
                      <a:solidFill>
                        <a:srgbClr val="D8D8D8"/>
                      </a:solidFill>
                      <a:prstDash val="solid"/>
                    </a:lnL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Надёжность runtime и проверка неизвестной схемы</a:t>
                      </a:r>
                    </a:p>
                  </a:txBody>
                  <a:tcPr marL="133350" marR="133350" marT="95250" marB="95250" anchor="ctr"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P3</a:t>
                      </a:r>
                    </a:p>
                  </a:txBody>
                  <a:tcPr marL="133350" marR="133350" marT="95250" marB="95250" anchor="ctr">
                    <a:lnL w="6668">
                      <a:solidFill>
                        <a:srgbClr val="D8D8D8"/>
                      </a:solidFill>
                      <a:prstDash val="solid"/>
                    </a:lnL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4–6 сравнимых regression-экспериментов</a:t>
                      </a:r>
                    </a:p>
                  </a:txBody>
                  <a:tcPr marL="133350" marR="133350" marT="95250" marB="95250" anchor="ctr"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P4</a:t>
                      </a:r>
                    </a:p>
                  </a:txBody>
                  <a:tcPr marL="133350" marR="133350" marT="95250" marB="95250" anchor="ctr">
                    <a:lnL w="6668">
                      <a:solidFill>
                        <a:srgbClr val="D8D8D8"/>
                      </a:solidFill>
                      <a:prstDash val="solid"/>
                    </a:lnL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4–6 classification-экспериментов с per-class F1</a:t>
                      </a:r>
                    </a:p>
                  </a:txBody>
                  <a:tcPr marL="133350" marR="133350" marT="95250" marB="95250" anchor="ctr"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P5</a:t>
                      </a:r>
                    </a:p>
                  </a:txBody>
                  <a:tcPr marL="133350" marR="133350" marT="95250" marB="95250" anchor="ctr">
                    <a:lnL w="6668">
                      <a:solidFill>
                        <a:srgbClr val="D8D8D8"/>
                      </a:solidFill>
                      <a:prstDash val="solid"/>
                    </a:lnL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Версия контекста, промпты и сводка результатов</a:t>
                      </a:r>
                    </a:p>
                  </a:txBody>
                  <a:tcPr marL="133350" marR="133350" marT="95250" marB="95250" anchor="ctr"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Капитан</a:t>
                      </a:r>
                    </a:p>
                  </a:txBody>
                  <a:tcPr marL="133350" marR="133350" marT="95250" marB="95250" anchor="ctr">
                    <a:lnL w="6668">
                      <a:solidFill>
                        <a:srgbClr val="D8D8D8"/>
                      </a:solidFill>
                      <a:prstDash val="solid"/>
                    </a:lnL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191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Приоритеты, сроки и решение о следующей отправке</a:t>
                      </a:r>
                    </a:p>
                  </a:txBody>
                  <a:tcPr marL="133350" marR="133350" marT="95250" marB="95250" anchor="ctr">
                    <a:lnR w="6668">
                      <a:solidFill>
                        <a:srgbClr val="D8D8D8"/>
                      </a:solidFill>
                      <a:prstDash val="solid"/>
                    </a:lnR>
                    <a:lnB w="6668">
                      <a:solidFill>
                        <a:srgbClr val="D8D8D8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88328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Стратегия сабмитов">
            <a:extLst xmlns:a="http://schemas.openxmlformats.org/drawingml/2006/main">
              <a:ext uri="{FF2B5EF4-FFF2-40B4-BE49-F238E27FC236}">
                <a16:creationId xmlns:a16="http://schemas.microsoft.com/office/drawing/2014/main" id="{2A86D906-D8FA-4114-83D5-CD54C2E4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Стратегия сабмитов</a:t>
            </a:r>
          </a:p>
        </p:txBody>
      </p:sp>
      <p:sp>
        <p:nvSpPr>
          <p:cNvPr id="2" name="Один ZIP соответствует конкретной версии исходников">
            <a:extLst xmlns:a="http://schemas.openxmlformats.org/drawingml/2006/main">
              <a:ext uri="{FF2B5EF4-FFF2-40B4-BE49-F238E27FC236}">
                <a16:creationId xmlns:a16="http://schemas.microsoft.com/office/drawing/2014/main" id="{CBFF99A2-092E-4209-9BBF-9192CAD4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Один ZIP соответствует конкретной версии исходников</a:t>
            </a:r>
          </a:p>
        </p:txBody>
      </p:sp>
      <p:sp>
        <p:nvSpPr>
          <p:cNvPr id="3" name="Каждый submit проверяет заранее записанную гипотезу">
            <a:extLst xmlns:a="http://schemas.openxmlformats.org/drawingml/2006/main">
              <a:ext uri="{FF2B5EF4-FFF2-40B4-BE49-F238E27FC236}">
                <a16:creationId xmlns:a16="http://schemas.microsoft.com/office/drawing/2014/main" id="{C54D9BD2-DF97-42F2-9CFC-28F1E784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Каждый submit проверяет заранее записанную гипотезу</a:t>
            </a:r>
          </a:p>
        </p:txBody>
      </p:sp>
      <p:sp>
        <p:nvSpPr>
          <p:cNvPr id="4" name="После отправки ждём результат предыдущей проверки">
            <a:extLst xmlns:a="http://schemas.openxmlformats.org/drawingml/2006/main">
              <a:ext uri="{FF2B5EF4-FFF2-40B4-BE49-F238E27FC236}">
                <a16:creationId xmlns:a16="http://schemas.microsoft.com/office/drawing/2014/main" id="{C15BDEA5-7C7C-4A3E-92B2-35CEF221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После отправки ждём результат предыдущей проверки</a:t>
            </a:r>
          </a:p>
        </p:txBody>
      </p:sp>
      <p:sp>
        <p:nvSpPr>
          <p:cNvPr id="5" name="Сохраняем SHA-256, время и официальный score">
            <a:extLst xmlns:a="http://schemas.openxmlformats.org/drawingml/2006/main">
              <a:ext uri="{FF2B5EF4-FFF2-40B4-BE49-F238E27FC236}">
                <a16:creationId xmlns:a16="http://schemas.microsoft.com/office/drawing/2014/main" id="{BA700770-36A8-477C-B0A2-C7B9B619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Сохраняем SHA-256, время и официальный score</a:t>
            </a:r>
          </a:p>
        </p:txBody>
      </p:sp>
    </p:spTree>
    <p:extLst>
      <p:ext uri="{BB962C8B-B14F-4D97-AF65-F5344CB8AC3E}">
        <p14:creationId xmlns:p14="http://schemas.microsoft.com/office/powerpoint/2010/main" val="15487146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Официальная проверка">
            <a:extLst xmlns:a="http://schemas.openxmlformats.org/drawingml/2006/main">
              <a:ext uri="{FF2B5EF4-FFF2-40B4-BE49-F238E27FC236}">
                <a16:creationId xmlns:a16="http://schemas.microsoft.com/office/drawing/2014/main" id="{CF239CB6-F78E-4FE7-A84B-F937215F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Официальная проверка</a:t>
            </a:r>
          </a:p>
        </p:txBody>
      </p:sp>
      <p:sp>
        <p:nvSpPr>
          <p:cNvPr id="2" name="ZIP принят в очередь">
            <a:extLst xmlns:a="http://schemas.openxmlformats.org/drawingml/2006/main">
              <a:ext uri="{FF2B5EF4-FFF2-40B4-BE49-F238E27FC236}">
                <a16:creationId xmlns:a16="http://schemas.microsoft.com/office/drawing/2014/main" id="{B2E58AC9-D3FE-4877-BCBA-33251A85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600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600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600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600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600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600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600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600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600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EC2427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EC2427"/>
                </a:solidFill>
                <a:latin typeface="DejaVu Sans"/>
                <a:ea typeface="DejaVu Sans"/>
                <a:cs typeface="DejaVu Sans"/>
              </a:rPr>
              <a:t>ZIP принят в очередь</a:t>
            </a:r>
          </a:p>
        </p:txBody>
      </p:sp>
      <p:sp>
        <p:nvSpPr>
          <p:cNvPr id="3" name="Очередь не является подтверждением качества">
            <a:extLst xmlns:a="http://schemas.openxmlformats.org/drawingml/2006/main">
              <a:ext uri="{FF2B5EF4-FFF2-40B4-BE49-F238E27FC236}">
                <a16:creationId xmlns:a16="http://schemas.microsoft.com/office/drawing/2014/main" id="{4024D198-79D5-488F-881C-4E23F327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1066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Очередь не является подтверждением качества</a:t>
            </a:r>
          </a:p>
        </p:txBody>
      </p:sp>
      <p:sp>
        <p:nvSpPr>
          <p:cNvPr id="4" name="Результат обновим после завершения проверки">
            <a:extLst xmlns:a="http://schemas.openxmlformats.org/drawingml/2006/main">
              <a:ext uri="{FF2B5EF4-FFF2-40B4-BE49-F238E27FC236}">
                <a16:creationId xmlns:a16="http://schemas.microsoft.com/office/drawing/2014/main" id="{1BE3DD65-2B54-4015-82AD-E6ECF140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66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Результат обновим после завершения проверки</a:t>
            </a:r>
          </a:p>
        </p:txBody>
      </p:sp>
    </p:spTree>
    <p:extLst>
      <p:ext uri="{BB962C8B-B14F-4D97-AF65-F5344CB8AC3E}">
        <p14:creationId xmlns:p14="http://schemas.microsoft.com/office/powerpoint/2010/main" val="12741483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Решения завтрашней встречи">
            <a:extLst xmlns:a="http://schemas.openxmlformats.org/drawingml/2006/main">
              <a:ext uri="{FF2B5EF4-FFF2-40B4-BE49-F238E27FC236}">
                <a16:creationId xmlns:a16="http://schemas.microsoft.com/office/drawing/2014/main" id="{06D9C9F0-55B9-45DC-8530-60050D4B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Решения завтрашней встречи</a:t>
            </a:r>
          </a:p>
        </p:txBody>
      </p:sp>
      <p:sp>
        <p:nvSpPr>
          <p:cNvPr id="2" name="Кто занимает пять ролей и проверяет работу каждого">
            <a:extLst xmlns:a="http://schemas.openxmlformats.org/drawingml/2006/main">
              <a:ext uri="{FF2B5EF4-FFF2-40B4-BE49-F238E27FC236}">
                <a16:creationId xmlns:a16="http://schemas.microsoft.com/office/drawing/2014/main" id="{90B33364-B603-47EA-895B-5B8BB7BC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Кто занимает пять ролей и проверяет работу каждого</a:t>
            </a:r>
          </a:p>
        </p:txBody>
      </p:sp>
      <p:sp>
        <p:nvSpPr>
          <p:cNvPr id="3" name="Какая версия и какая валидация становятся общими">
            <a:extLst xmlns:a="http://schemas.openxmlformats.org/drawingml/2006/main">
              <a:ext uri="{FF2B5EF4-FFF2-40B4-BE49-F238E27FC236}">
                <a16:creationId xmlns:a16="http://schemas.microsoft.com/office/drawing/2014/main" id="{20DD8E7F-8A36-43F5-86B4-4170D959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Какая версия и какая валидация становятся общими</a:t>
            </a:r>
          </a:p>
        </p:txBody>
      </p:sp>
      <p:sp>
        <p:nvSpPr>
          <p:cNvPr id="4" name="Какие результаты ждём через 24 часа">
            <a:extLst xmlns:a="http://schemas.openxmlformats.org/drawingml/2006/main">
              <a:ext uri="{FF2B5EF4-FFF2-40B4-BE49-F238E27FC236}">
                <a16:creationId xmlns:a16="http://schemas.microsoft.com/office/drawing/2014/main" id="{41CB6265-31A5-4997-97E8-52DB835F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Какие результаты ждём через 24 часа</a:t>
            </a:r>
          </a:p>
        </p:txBody>
      </p:sp>
      <p:sp>
        <p:nvSpPr>
          <p:cNvPr id="5" name="Когда точный дедлайн, freeze и следующий submit">
            <a:extLst xmlns:a="http://schemas.openxmlformats.org/drawingml/2006/main">
              <a:ext uri="{FF2B5EF4-FFF2-40B4-BE49-F238E27FC236}">
                <a16:creationId xmlns:a16="http://schemas.microsoft.com/office/drawing/2014/main" id="{7DDB47B9-9EF9-4A18-87A1-A0F05C63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91919"/>
                </a:solidFill>
                <a:latin typeface="DejaVu Sans"/>
                <a:ea typeface="DejaVu Sans"/>
                <a:cs typeface="DejaVu Sans"/>
              </a:rPr>
              <a:t>Когда точный дедлайн, freeze и следующий submit</a:t>
            </a:r>
          </a:p>
        </p:txBody>
      </p:sp>
    </p:spTree>
    <p:extLst>
      <p:ext uri="{BB962C8B-B14F-4D97-AF65-F5344CB8AC3E}">
        <p14:creationId xmlns:p14="http://schemas.microsoft.com/office/powerpoint/2010/main" val="5451110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2026-10-21T08:15:54.2460000Z</dcterms:created>
  <dcterms:modified xsi:type="dcterms:W3CDTF">2026-10-21T08:15:54.2460000Z</dcterms:modified>
</coreProperties>
</file>